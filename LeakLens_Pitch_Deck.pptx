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99738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leaklens-henna.vercel.app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leaklens-henna.vercel.app/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572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6B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FINTECH · PROBLEM STATEMENT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580644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A17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Your inbox already knows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A17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which subscriptions you've</a:t>
            </a:r>
            <a:endParaRPr lang="en-US" sz="36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1A17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stopped using.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2825496"/>
            <a:ext cx="5577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600" i="1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forensic subscription audit that runs entirely in your browser — no bank connection, no OAuth, no cloud.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66928" y="3520440"/>
            <a:ext cx="1463040" cy="0"/>
          </a:xfrm>
          <a:prstGeom prst="line">
            <a:avLst/>
          </a:prstGeom>
          <a:noFill/>
          <a:ln w="15875">
            <a:solidFill>
              <a:srgbClr val="D8D2C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3703320"/>
            <a:ext cx="5623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tracker on the market stops at the recurring payment — none of them know if you've actually opened the app since.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6928" y="4709160"/>
            <a:ext cx="64008" cy="658368"/>
          </a:xfrm>
          <a:prstGeom prst="rect">
            <a:avLst/>
          </a:prstGeom>
          <a:solidFill>
            <a:srgbClr val="C8361E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67258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 are visible.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500176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is invisible — to every existing tool.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66928" y="5532120"/>
            <a:ext cx="64008" cy="658368"/>
          </a:xfrm>
          <a:prstGeom prst="rect">
            <a:avLst/>
          </a:prstGeom>
          <a:solidFill>
            <a:srgbClr val="C8361E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5495544"/>
            <a:ext cx="5394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inbox is the missing half.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582472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OTPs, delivery alerts, device pings — already sitting there, unread.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88836" y="1156716"/>
            <a:ext cx="4983480" cy="314645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6"/>
            </a:solidFill>
            <a:prstDash val="solid"/>
          </a:ln>
          <a:effectLst>
            <a:outerShdw blurRad="228600" dist="76200" dir="5400000" algn="bl" rotWithShape="0">
              <a:srgbClr val="1A1714">
                <a:alpha val="28000"/>
              </a:srgbClr>
            </a:outerShdw>
          </a:effectLst>
        </p:spPr>
      </p:sp>
      <p:pic>
        <p:nvPicPr>
          <p:cNvPr id="14" name="Image 0" descr="/home/claude/leaklens/assets/inbo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084" y="991546"/>
            <a:ext cx="5285232" cy="3311620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6720840" y="4526280"/>
            <a:ext cx="49194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Real SMS inbox — 99 messages, 11 senders. The evidence was always there.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548640" y="150876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7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LEAK</a:t>
            </a:r>
            <a:r>
              <a:rPr lang="en-US" sz="1600" b="1" dirty="0">
                <a:solidFill>
                  <a:srgbClr val="C836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LENS</a:t>
            </a: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136873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7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LEAK</a:t>
            </a:r>
            <a:r>
              <a:rPr lang="en-US" sz="1600" b="1" dirty="0">
                <a:solidFill>
                  <a:srgbClr val="C836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36873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83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THE GAP &amp; THE CORE INNOVATION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1A17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Every subscription leaves two footprints. Most trackers read only one.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48640" y="2423160"/>
            <a:ext cx="5376672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2551176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83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TRADITIONAL TRACKERS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843784"/>
            <a:ext cx="4828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OAuth login required. Sees only the charge — never whether you used it.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236208" y="2423160"/>
            <a:ext cx="5376672" cy="896112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0" name="Text 8"/>
          <p:cNvSpPr/>
          <p:nvPr/>
        </p:nvSpPr>
        <p:spPr>
          <a:xfrm>
            <a:off x="6510528" y="2551176"/>
            <a:ext cx="48280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9BD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LEAKLENS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510528" y="2843784"/>
            <a:ext cx="4828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FAF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Reads evidence already in your inbox and matches it to usage — zero backend.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8640" y="3611880"/>
            <a:ext cx="420624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8496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RECURRING PAYMENTS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42336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every other tracker already sees.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4892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debits · UPI autopay · card mandates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212080" y="3611880"/>
            <a:ext cx="4206240" cy="187452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3849624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kern="0" spc="100" dirty="0">
                <a:solidFill>
                  <a:srgbClr val="9BD4B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 SIGNALS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486400" y="4233672"/>
            <a:ext cx="3657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D8D2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only LeakLens reads.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486400" y="4892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AF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OTPs · device alerts · delivery + order receipts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736592" y="4160520"/>
            <a:ext cx="585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655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+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9692640" y="3611880"/>
            <a:ext cx="1947672" cy="1874520"/>
          </a:xfrm>
          <a:prstGeom prst="rect">
            <a:avLst/>
          </a:prstGeom>
          <a:solidFill>
            <a:srgbClr val="F2ECE1"/>
          </a:solidFill>
          <a:ln w="15875">
            <a:solidFill>
              <a:srgbClr val="C8361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272016" y="4160520"/>
            <a:ext cx="530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6B655D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=</a:t>
            </a:r>
            <a:endParaRPr lang="en-US" sz="3200" dirty="0"/>
          </a:p>
        </p:txBody>
      </p:sp>
      <p:sp>
        <p:nvSpPr>
          <p:cNvPr id="23" name="Text 21"/>
          <p:cNvSpPr/>
          <p:nvPr/>
        </p:nvSpPr>
        <p:spPr>
          <a:xfrm>
            <a:off x="9802368" y="3959352"/>
            <a:ext cx="172821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836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ZOMBIE</a:t>
            </a:r>
            <a:endParaRPr lang="en-US" sz="16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C836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SUBSCRIPTION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802368" y="4846320"/>
            <a:ext cx="17282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continues,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i="1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goes silent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715000"/>
            <a:ext cx="11091672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" y="58613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6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100% CLIENT-SIDE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3337560" y="5870448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backend  ·  No cloud  ·  No APIs  ·  No OAuth  ·  No banking integration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7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LEAK</a:t>
            </a:r>
            <a:r>
              <a:rPr lang="en-US" sz="1600" b="1" dirty="0">
                <a:solidFill>
                  <a:srgbClr val="C836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36873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83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THE SOLUTION &amp; THE PRODUCT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56235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17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One link. A complete</a:t>
            </a:r>
            <a:endParaRPr lang="en-US" sz="32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1A17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forensic audit.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2880360"/>
            <a:ext cx="5532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LeakLens, point it at your own inbox export or the bundled demo data — nothing ever leaves the browser tab.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48640" y="3931920"/>
            <a:ext cx="64008" cy="658368"/>
          </a:xfrm>
          <a:prstGeom prst="rect">
            <a:avLst/>
          </a:prstGeom>
          <a:solidFill>
            <a:srgbClr val="C8361E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3895344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 total, front and center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4197096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annual bleed and recoverable amount as the very first thing you see.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4736592"/>
            <a:ext cx="64008" cy="658368"/>
          </a:xfrm>
          <a:prstGeom prst="rect">
            <a:avLst/>
          </a:prstGeom>
          <a:solidFill>
            <a:srgbClr val="C8361E"/>
          </a:solidFill>
          <a:ln/>
        </p:spPr>
      </p:sp>
      <p:sp>
        <p:nvSpPr>
          <p:cNvPr id="11" name="Text 9"/>
          <p:cNvSpPr/>
          <p:nvPr/>
        </p:nvSpPr>
        <p:spPr>
          <a:xfrm>
            <a:off x="804672" y="4700016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Per-card evidence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5001768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Charge count and usage signal shown on every subscription — not just a verdict.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5541264"/>
            <a:ext cx="64008" cy="658368"/>
          </a:xfrm>
          <a:prstGeom prst="rect">
            <a:avLst/>
          </a:prstGeom>
          <a:solidFill>
            <a:srgbClr val="C8361E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5504688"/>
            <a:ext cx="5349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honest verdicts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580644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Zombie, Price Hike, or Unknown — never a guess dressed up as fact.</a:t>
            </a:r>
            <a:endParaRPr lang="en-US" sz="1200" dirty="0"/>
          </a:p>
        </p:txBody>
      </p:sp>
      <p:pic>
        <p:nvPicPr>
          <p:cNvPr id="17" name="Image 0" descr="/home/claude/leaklens/assets/land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5917" y="539471"/>
            <a:ext cx="5377138" cy="5001793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6623801" y="5771170"/>
            <a:ext cx="433966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6B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Zero-setup entry point.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7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LEAK</a:t>
            </a:r>
            <a:r>
              <a:rPr lang="en-US" sz="1600" b="1" dirty="0">
                <a:solidFill>
                  <a:srgbClr val="C836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36873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83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HOW LEAKLENS WORKS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900" b="1" dirty="0">
                <a:solidFill>
                  <a:srgbClr val="1A17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Eight deterministic steps. Zero network calls.</a:t>
            </a:r>
            <a:endParaRPr lang="en-US" sz="29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1274445" cy="214884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2295144"/>
            <a:ext cx="10549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8D2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658368" y="2715768"/>
            <a:ext cx="105498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AF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951101" y="2148840"/>
            <a:ext cx="1274445" cy="2148840"/>
          </a:xfrm>
          <a:prstGeom prst="rect">
            <a:avLst/>
          </a:prstGeom>
          <a:solidFill>
            <a:srgbClr val="45403A"/>
          </a:solidFill>
          <a:ln/>
        </p:spPr>
      </p:sp>
      <p:sp>
        <p:nvSpPr>
          <p:cNvPr id="11" name="Text 9"/>
          <p:cNvSpPr/>
          <p:nvPr/>
        </p:nvSpPr>
        <p:spPr>
          <a:xfrm>
            <a:off x="2060829" y="2295144"/>
            <a:ext cx="10549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8D2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2060829" y="2715768"/>
            <a:ext cx="105498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AF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Parser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353562" y="2148840"/>
            <a:ext cx="1274445" cy="214884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15" name="Text 13"/>
          <p:cNvSpPr/>
          <p:nvPr/>
        </p:nvSpPr>
        <p:spPr>
          <a:xfrm>
            <a:off x="3463290" y="2295144"/>
            <a:ext cx="10549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8D2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63290" y="2715768"/>
            <a:ext cx="105498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AF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Resolver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6023" y="2148840"/>
            <a:ext cx="1274445" cy="2148840"/>
          </a:xfrm>
          <a:prstGeom prst="rect">
            <a:avLst/>
          </a:prstGeom>
          <a:solidFill>
            <a:srgbClr val="45403A"/>
          </a:solidFill>
          <a:ln/>
        </p:spPr>
      </p:sp>
      <p:sp>
        <p:nvSpPr>
          <p:cNvPr id="19" name="Text 17"/>
          <p:cNvSpPr/>
          <p:nvPr/>
        </p:nvSpPr>
        <p:spPr>
          <a:xfrm>
            <a:off x="4865751" y="2295144"/>
            <a:ext cx="10549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8D2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865751" y="2715768"/>
            <a:ext cx="105498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AF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Recurrence Detection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58484" y="2148840"/>
            <a:ext cx="1274445" cy="214884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23" name="Text 21"/>
          <p:cNvSpPr/>
          <p:nvPr/>
        </p:nvSpPr>
        <p:spPr>
          <a:xfrm>
            <a:off x="6268212" y="2295144"/>
            <a:ext cx="10549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8D2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268212" y="2715768"/>
            <a:ext cx="105498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AF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Matching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560945" y="2148840"/>
            <a:ext cx="1274445" cy="2148840"/>
          </a:xfrm>
          <a:prstGeom prst="rect">
            <a:avLst/>
          </a:prstGeom>
          <a:solidFill>
            <a:srgbClr val="45403A"/>
          </a:solidFill>
          <a:ln/>
        </p:spPr>
      </p:sp>
      <p:sp>
        <p:nvSpPr>
          <p:cNvPr id="27" name="Text 25"/>
          <p:cNvSpPr/>
          <p:nvPr/>
        </p:nvSpPr>
        <p:spPr>
          <a:xfrm>
            <a:off x="7670673" y="2295144"/>
            <a:ext cx="10549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8D2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7670673" y="2715768"/>
            <a:ext cx="105498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AF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 Score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8963406" y="2148840"/>
            <a:ext cx="1274445" cy="214884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31" name="Text 29"/>
          <p:cNvSpPr/>
          <p:nvPr/>
        </p:nvSpPr>
        <p:spPr>
          <a:xfrm>
            <a:off x="9073134" y="2295144"/>
            <a:ext cx="10549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8D2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073134" y="2715768"/>
            <a:ext cx="105498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AF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 Planner</a:t>
            </a:r>
            <a:endParaRPr lang="en-US" sz="1300" dirty="0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C29E3065-9E12-3D72-30A9-483E4C4DD306}"/>
              </a:ext>
            </a:extLst>
          </p:cNvPr>
          <p:cNvGrpSpPr/>
          <p:nvPr/>
        </p:nvGrpSpPr>
        <p:grpSpPr>
          <a:xfrm>
            <a:off x="1749933" y="2967228"/>
            <a:ext cx="8689086" cy="512064"/>
            <a:chOff x="1804797" y="2967228"/>
            <a:chExt cx="8689086" cy="512064"/>
          </a:xfrm>
        </p:grpSpPr>
        <p:sp>
          <p:nvSpPr>
            <p:cNvPr id="9" name="Text 7"/>
            <p:cNvSpPr/>
            <p:nvPr/>
          </p:nvSpPr>
          <p:spPr>
            <a:xfrm>
              <a:off x="1804797" y="2967228"/>
              <a:ext cx="2743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B65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›</a:t>
              </a:r>
              <a:endParaRPr lang="en-US" sz="2000" dirty="0"/>
            </a:p>
          </p:txBody>
        </p:sp>
        <p:sp>
          <p:nvSpPr>
            <p:cNvPr id="13" name="Text 11"/>
            <p:cNvSpPr/>
            <p:nvPr/>
          </p:nvSpPr>
          <p:spPr>
            <a:xfrm>
              <a:off x="3207258" y="2967228"/>
              <a:ext cx="2743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B65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›</a:t>
              </a:r>
              <a:endParaRPr lang="en-US" sz="20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4609719" y="2967228"/>
              <a:ext cx="2743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B65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›</a:t>
              </a:r>
              <a:endParaRPr lang="en-US" sz="20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6012180" y="2967228"/>
              <a:ext cx="2743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B65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›</a:t>
              </a:r>
              <a:endParaRPr lang="en-US" sz="2000" dirty="0"/>
            </a:p>
          </p:txBody>
        </p:sp>
        <p:sp>
          <p:nvSpPr>
            <p:cNvPr id="25" name="Text 23"/>
            <p:cNvSpPr/>
            <p:nvPr/>
          </p:nvSpPr>
          <p:spPr>
            <a:xfrm>
              <a:off x="7414641" y="2967228"/>
              <a:ext cx="2743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B65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›</a:t>
              </a:r>
              <a:endParaRPr lang="en-US" sz="2000" dirty="0"/>
            </a:p>
          </p:txBody>
        </p:sp>
        <p:sp>
          <p:nvSpPr>
            <p:cNvPr id="29" name="Text 27"/>
            <p:cNvSpPr/>
            <p:nvPr/>
          </p:nvSpPr>
          <p:spPr>
            <a:xfrm>
              <a:off x="8817102" y="2967228"/>
              <a:ext cx="2743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B65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›</a:t>
              </a:r>
              <a:endParaRPr lang="en-US" sz="2000" dirty="0"/>
            </a:p>
          </p:txBody>
        </p:sp>
        <p:sp>
          <p:nvSpPr>
            <p:cNvPr id="33" name="Text 31"/>
            <p:cNvSpPr/>
            <p:nvPr/>
          </p:nvSpPr>
          <p:spPr>
            <a:xfrm>
              <a:off x="10219563" y="2967228"/>
              <a:ext cx="274320" cy="51206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2000" b="1" dirty="0">
                  <a:solidFill>
                    <a:srgbClr val="6B655D"/>
                  </a:solidFill>
                  <a:latin typeface="Arial" pitchFamily="34" charset="0"/>
                  <a:ea typeface="Arial" pitchFamily="34" charset="-122"/>
                  <a:cs typeface="Arial" pitchFamily="34" charset="-120"/>
                </a:rPr>
                <a:t>›</a:t>
              </a:r>
              <a:endParaRPr lang="en-US" sz="2000" dirty="0"/>
            </a:p>
          </p:txBody>
        </p:sp>
      </p:grpSp>
      <p:sp>
        <p:nvSpPr>
          <p:cNvPr id="34" name="Shape 32"/>
          <p:cNvSpPr/>
          <p:nvPr/>
        </p:nvSpPr>
        <p:spPr>
          <a:xfrm>
            <a:off x="10365867" y="2148840"/>
            <a:ext cx="1274445" cy="2148840"/>
          </a:xfrm>
          <a:prstGeom prst="rect">
            <a:avLst/>
          </a:prstGeom>
          <a:solidFill>
            <a:srgbClr val="C8361E"/>
          </a:solidFill>
          <a:ln/>
        </p:spPr>
      </p:sp>
      <p:sp>
        <p:nvSpPr>
          <p:cNvPr id="35" name="Text 33"/>
          <p:cNvSpPr/>
          <p:nvPr/>
        </p:nvSpPr>
        <p:spPr>
          <a:xfrm>
            <a:off x="10475595" y="2295144"/>
            <a:ext cx="105498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D8D2C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10475595" y="2715768"/>
            <a:ext cx="1054989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b="1" dirty="0">
                <a:solidFill>
                  <a:srgbClr val="FAF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48640" y="452628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i="1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Inbox export in → leak score out. Every stage runs locally in the browser; nothing is ever transmitted.</a:t>
            </a:r>
            <a:endParaRPr lang="en-US" sz="1450" dirty="0"/>
          </a:p>
        </p:txBody>
      </p:sp>
      <p:sp>
        <p:nvSpPr>
          <p:cNvPr id="38" name="Shape 36"/>
          <p:cNvSpPr/>
          <p:nvPr/>
        </p:nvSpPr>
        <p:spPr>
          <a:xfrm>
            <a:off x="548640" y="5257800"/>
            <a:ext cx="11091672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5422392"/>
            <a:ext cx="3697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6E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ZERO</a:t>
            </a:r>
            <a:endParaRPr lang="en-US" sz="3600" dirty="0"/>
          </a:p>
        </p:txBody>
      </p:sp>
      <p:sp>
        <p:nvSpPr>
          <p:cNvPr id="40" name="Text 38"/>
          <p:cNvSpPr/>
          <p:nvPr/>
        </p:nvSpPr>
        <p:spPr>
          <a:xfrm>
            <a:off x="548640" y="6126480"/>
            <a:ext cx="3697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network requests</a:t>
            </a:r>
            <a:endParaRPr lang="en-US" sz="1250" dirty="0"/>
          </a:p>
        </p:txBody>
      </p:sp>
      <p:sp>
        <p:nvSpPr>
          <p:cNvPr id="41" name="Text 39"/>
          <p:cNvSpPr/>
          <p:nvPr/>
        </p:nvSpPr>
        <p:spPr>
          <a:xfrm>
            <a:off x="4245864" y="5422392"/>
            <a:ext cx="3697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6E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100%</a:t>
            </a:r>
            <a:endParaRPr lang="en-US" sz="3600" dirty="0"/>
          </a:p>
        </p:txBody>
      </p:sp>
      <p:sp>
        <p:nvSpPr>
          <p:cNvPr id="42" name="Text 40"/>
          <p:cNvSpPr/>
          <p:nvPr/>
        </p:nvSpPr>
        <p:spPr>
          <a:xfrm>
            <a:off x="4245864" y="6126480"/>
            <a:ext cx="3697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client-side execution</a:t>
            </a:r>
            <a:endParaRPr lang="en-US" sz="1250" dirty="0"/>
          </a:p>
        </p:txBody>
      </p:sp>
      <p:sp>
        <p:nvSpPr>
          <p:cNvPr id="43" name="Shape 41"/>
          <p:cNvSpPr/>
          <p:nvPr/>
        </p:nvSpPr>
        <p:spPr>
          <a:xfrm>
            <a:off x="4245864" y="5440680"/>
            <a:ext cx="0" cy="896112"/>
          </a:xfrm>
          <a:prstGeom prst="line">
            <a:avLst/>
          </a:prstGeom>
          <a:noFill/>
          <a:ln w="12700">
            <a:solidFill>
              <a:srgbClr val="D8D2C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943088" y="5422392"/>
            <a:ext cx="369722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6E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FULL</a:t>
            </a:r>
            <a:endParaRPr lang="en-US" sz="3600" dirty="0"/>
          </a:p>
        </p:txBody>
      </p:sp>
      <p:sp>
        <p:nvSpPr>
          <p:cNvPr id="45" name="Text 43"/>
          <p:cNvSpPr/>
          <p:nvPr/>
        </p:nvSpPr>
        <p:spPr>
          <a:xfrm>
            <a:off x="7943088" y="6126480"/>
            <a:ext cx="36972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breakdown shown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943088" y="5440680"/>
            <a:ext cx="0" cy="896112"/>
          </a:xfrm>
          <a:prstGeom prst="line">
            <a:avLst/>
          </a:prstGeom>
          <a:noFill/>
          <a:ln w="12700">
            <a:solidFill>
              <a:srgbClr val="D8D2C6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7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LEAK</a:t>
            </a:r>
            <a:r>
              <a:rPr lang="en-US" sz="1600" b="1" dirty="0">
                <a:solidFill>
                  <a:srgbClr val="C836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36873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83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REAL DETECTION EXAMPLES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7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Two ways LeakLens catches a leak.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367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836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Zombie Subscription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548640" y="26517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cult.fit still bills ₹399/month. Seven charges, zero usage pings since — flagged Zombie with a full score breakdown.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3794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Staleness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404164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3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50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3982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drift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46451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3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/ 30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5001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spend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48640" y="52486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3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20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696712"/>
            <a:ext cx="2331720" cy="777240"/>
          </a:xfrm>
          <a:prstGeom prst="rect">
            <a:avLst/>
          </a:prstGeom>
          <a:solidFill>
            <a:srgbClr val="F2ECE1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57881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6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 ₹4,788/yr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85800" y="61356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savings if cancelled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364137" y="2116836"/>
            <a:ext cx="2584035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6"/>
            </a:solidFill>
            <a:prstDash val="solid"/>
          </a:ln>
          <a:effectLst>
            <a:outerShdw blurRad="228600" dist="76200" dir="5400000" algn="bl" rotWithShape="0">
              <a:srgbClr val="1A1714">
                <a:alpha val="28000"/>
              </a:srgbClr>
            </a:outerShdw>
          </a:effectLst>
        </p:spPr>
      </p:sp>
      <p:pic>
        <p:nvPicPr>
          <p:cNvPr id="18" name="Image 0" descr="/home/claude/leaklens/assets/cultf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6141" y="2148840"/>
            <a:ext cx="2520027" cy="41605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263640" y="2148840"/>
            <a:ext cx="5367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836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Silent Price Hike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6263640" y="2651760"/>
            <a:ext cx="2331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Disney+ Hotstar quietly raised its mandate by 25% over six months — caught by diffing historical charges.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6263640" y="379476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Staleness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6263640" y="4041648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3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47 / 50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63640" y="4398264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drift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6263640" y="4645152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3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25 / 30  (+25%)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6263640" y="50017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Share of spend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263640" y="5248656"/>
            <a:ext cx="2331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83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20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6263640" y="5696712"/>
            <a:ext cx="2331720" cy="777240"/>
          </a:xfrm>
          <a:prstGeom prst="rect">
            <a:avLst/>
          </a:prstGeom>
          <a:solidFill>
            <a:srgbClr val="F2ECE1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400800" y="5788152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6E4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 ₹1,200/yr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6400800" y="6135624"/>
            <a:ext cx="2057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Annual savings if cancelled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9115334" y="2116836"/>
            <a:ext cx="2547838" cy="4224528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6"/>
            </a:solidFill>
            <a:prstDash val="solid"/>
          </a:ln>
          <a:effectLst>
            <a:outerShdw blurRad="228600" dist="76200" dir="5400000" algn="bl" rotWithShape="0">
              <a:srgbClr val="1A1714">
                <a:alpha val="28000"/>
              </a:srgbClr>
            </a:outerShdw>
          </a:effectLst>
        </p:spPr>
      </p:sp>
      <p:pic>
        <p:nvPicPr>
          <p:cNvPr id="31" name="Image 1" descr="/home/claude/leaklens/assets/hotst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7338" y="2148840"/>
            <a:ext cx="2483830" cy="4160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7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LEAK</a:t>
            </a:r>
            <a:r>
              <a:rPr lang="en-US" sz="1600" b="1" dirty="0">
                <a:solidFill>
                  <a:srgbClr val="C836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11368735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6B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83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WHY WE WIN &amp; PROOF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129844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A17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Built different. Proven on real data.</a:t>
            </a:r>
            <a:endParaRPr lang="en-US" sz="27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6903720" cy="45720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2057400"/>
            <a:ext cx="25786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AF6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310128" y="2057400"/>
            <a:ext cx="193304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Traditional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243170" y="2057400"/>
            <a:ext cx="22091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9BD4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LeakLens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48640" y="2514600"/>
            <a:ext cx="6903720" cy="420624"/>
          </a:xfrm>
          <a:prstGeom prst="rect">
            <a:avLst/>
          </a:prstGeom>
          <a:solidFill>
            <a:srgbClr val="F2ECE1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243170" y="2514600"/>
            <a:ext cx="2209190" cy="420624"/>
          </a:xfrm>
          <a:prstGeom prst="rect">
            <a:avLst/>
          </a:prstGeom>
          <a:solidFill>
            <a:srgbClr val="F1F8F3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2514600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Usage detection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310128" y="2514600"/>
            <a:ext cx="1933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243170" y="2514600"/>
            <a:ext cx="22091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6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48640" y="2935224"/>
            <a:ext cx="6903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243170" y="2935224"/>
            <a:ext cx="2209190" cy="420624"/>
          </a:xfrm>
          <a:prstGeom prst="rect">
            <a:avLst/>
          </a:prstGeom>
          <a:solidFill>
            <a:srgbClr val="F1F8F3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31520" y="2935224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Price drift alerts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310128" y="2935224"/>
            <a:ext cx="1933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Rare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243170" y="2935224"/>
            <a:ext cx="22091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6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355848"/>
            <a:ext cx="6903720" cy="420624"/>
          </a:xfrm>
          <a:prstGeom prst="rect">
            <a:avLst/>
          </a:prstGeom>
          <a:solidFill>
            <a:srgbClr val="F2ECE1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243170" y="3355848"/>
            <a:ext cx="2209190" cy="420624"/>
          </a:xfrm>
          <a:prstGeom prst="rect">
            <a:avLst/>
          </a:prstGeom>
          <a:solidFill>
            <a:srgbClr val="F1F8F3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1520" y="3355848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 model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310128" y="3355848"/>
            <a:ext cx="1933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Bank OAuth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243170" y="3355848"/>
            <a:ext cx="22091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6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client-side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48640" y="3776472"/>
            <a:ext cx="6903720" cy="420624"/>
          </a:xfrm>
          <a:prstGeom prst="rect">
            <a:avLst/>
          </a:prstGeom>
          <a:solidFill>
            <a:srgbClr val="FFFFFF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243170" y="3776472"/>
            <a:ext cx="2209190" cy="420624"/>
          </a:xfrm>
          <a:prstGeom prst="rect">
            <a:avLst/>
          </a:prstGeom>
          <a:solidFill>
            <a:srgbClr val="F1F8F3"/>
          </a:solidFill>
          <a:ln w="9525">
            <a:solidFill>
              <a:srgbClr val="D8D2C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31520" y="3776472"/>
            <a:ext cx="25786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labeling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310128" y="3776472"/>
            <a:ext cx="193304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243170" y="3776472"/>
            <a:ext cx="220919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2E6E4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Zombie / Hike / Unknown</a:t>
            </a:r>
            <a:endParaRPr lang="en-US" sz="1150" dirty="0"/>
          </a:p>
        </p:txBody>
      </p:sp>
      <p:pic>
        <p:nvPicPr>
          <p:cNvPr id="31" name="Image 0" descr="/home/claude/leaklens/assets/netfl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1866" y="92569"/>
            <a:ext cx="3177073" cy="4013087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783550" y="3518154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“Unknown” is a real verdict — not swept to Zombie.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534924" y="4732020"/>
            <a:ext cx="11091672" cy="1965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663398" y="4764024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6B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DEMO RESULTS — TESTED ON A REAL INBOX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822960" y="4937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836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2</a:t>
            </a:r>
            <a:endParaRPr lang="en-US" sz="4200" dirty="0"/>
          </a:p>
        </p:txBody>
      </p:sp>
      <p:sp>
        <p:nvSpPr>
          <p:cNvPr id="36" name="Text 33"/>
          <p:cNvSpPr/>
          <p:nvPr/>
        </p:nvSpPr>
        <p:spPr>
          <a:xfrm>
            <a:off x="822960" y="5733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6B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ZOMBIE SUBSCRIPTIONS</a:t>
            </a:r>
            <a:endParaRPr lang="en-US" sz="1000" dirty="0"/>
          </a:p>
        </p:txBody>
      </p:sp>
      <p:sp>
        <p:nvSpPr>
          <p:cNvPr id="37" name="Text 34"/>
          <p:cNvSpPr/>
          <p:nvPr/>
        </p:nvSpPr>
        <p:spPr>
          <a:xfrm>
            <a:off x="3337560" y="4937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C836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1</a:t>
            </a:r>
            <a:endParaRPr lang="en-US" sz="4200" dirty="0"/>
          </a:p>
        </p:txBody>
      </p:sp>
      <p:sp>
        <p:nvSpPr>
          <p:cNvPr id="38" name="Text 35"/>
          <p:cNvSpPr/>
          <p:nvPr/>
        </p:nvSpPr>
        <p:spPr>
          <a:xfrm>
            <a:off x="3337560" y="5733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6B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SILENT PRICE HIKE</a:t>
            </a:r>
            <a:endParaRPr lang="en-US" sz="1000" dirty="0"/>
          </a:p>
        </p:txBody>
      </p:sp>
      <p:sp>
        <p:nvSpPr>
          <p:cNvPr id="39" name="Text 36"/>
          <p:cNvSpPr/>
          <p:nvPr/>
        </p:nvSpPr>
        <p:spPr>
          <a:xfrm>
            <a:off x="5852160" y="49377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E6E4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₹7,176</a:t>
            </a:r>
            <a:endParaRPr lang="en-US" sz="4200" dirty="0"/>
          </a:p>
        </p:txBody>
      </p:sp>
      <p:sp>
        <p:nvSpPr>
          <p:cNvPr id="40" name="Text 37"/>
          <p:cNvSpPr/>
          <p:nvPr/>
        </p:nvSpPr>
        <p:spPr>
          <a:xfrm>
            <a:off x="5852160" y="5733288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50" dirty="0">
                <a:solidFill>
                  <a:srgbClr val="6B655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RECOVERABLE / YEAR</a:t>
            </a:r>
            <a:endParaRPr lang="en-US" sz="1000" dirty="0"/>
          </a:p>
        </p:txBody>
      </p:sp>
      <p:sp>
        <p:nvSpPr>
          <p:cNvPr id="41" name="Text 38"/>
          <p:cNvSpPr/>
          <p:nvPr/>
        </p:nvSpPr>
        <p:spPr>
          <a:xfrm>
            <a:off x="8321040" y="51206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500" b="1" dirty="0" err="1">
                <a:solidFill>
                  <a:srgbClr val="1A17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4"/>
              </a:rPr>
              <a:t>leaklens-henna.vercel.app</a:t>
            </a:r>
            <a:endParaRPr lang="en-US" sz="1500" dirty="0"/>
          </a:p>
        </p:txBody>
      </p:sp>
      <p:sp>
        <p:nvSpPr>
          <p:cNvPr id="42" name="Text 39"/>
          <p:cNvSpPr/>
          <p:nvPr/>
        </p:nvSpPr>
        <p:spPr>
          <a:xfrm>
            <a:off x="8321040" y="5532120"/>
            <a:ext cx="3063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6B655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Tested across 3 real-shaped inboxes — no synthetic data.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A17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LEAK</a:t>
            </a:r>
            <a:r>
              <a:rPr lang="en-US" sz="1600" b="1" dirty="0">
                <a:solidFill>
                  <a:srgbClr val="C836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LENS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C8361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WHAT'S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298448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8000"/>
              </a:lnSpc>
              <a:buNone/>
            </a:pPr>
            <a:r>
              <a:rPr lang="en-US" sz="2500" b="1" dirty="0">
                <a:solidFill>
                  <a:srgbClr val="1A1714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UPI AutoPay is multiplying subscriptions faster than anyone can track them.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52958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423160"/>
            <a:ext cx="3529584" cy="45720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42316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A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NOW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3044952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SMS parsing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410712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Zombie detection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776472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Price hike alerts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77240" y="4142232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Dashboard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334256" y="2423160"/>
            <a:ext cx="352958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34256" y="2423160"/>
            <a:ext cx="3529584" cy="457200"/>
          </a:xfrm>
          <a:prstGeom prst="rect">
            <a:avLst/>
          </a:prstGeom>
          <a:solidFill>
            <a:srgbClr val="45403A"/>
          </a:solidFill>
          <a:ln/>
        </p:spPr>
      </p:sp>
      <p:sp>
        <p:nvSpPr>
          <p:cNvPr id="14" name="Text 12"/>
          <p:cNvSpPr/>
          <p:nvPr/>
        </p:nvSpPr>
        <p:spPr>
          <a:xfrm>
            <a:off x="4334256" y="242316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A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62856" y="3044952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Email parsing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62856" y="3410712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Chrome extension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62856" y="3776472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Mobile app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119872" y="2423160"/>
            <a:ext cx="3529584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2C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19872" y="2423160"/>
            <a:ext cx="3529584" cy="457200"/>
          </a:xfrm>
          <a:prstGeom prst="rect">
            <a:avLst/>
          </a:prstGeom>
          <a:solidFill>
            <a:srgbClr val="6B655D"/>
          </a:solidFill>
          <a:ln/>
        </p:spPr>
      </p:sp>
      <p:sp>
        <p:nvSpPr>
          <p:cNvPr id="20" name="Text 18"/>
          <p:cNvSpPr/>
          <p:nvPr/>
        </p:nvSpPr>
        <p:spPr>
          <a:xfrm>
            <a:off x="8119872" y="2423160"/>
            <a:ext cx="35295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FA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48472" y="3044952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AI recommendations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8348472" y="3410712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Family plan detection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348472" y="3776472"/>
            <a:ext cx="307238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A171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 Enterprise monitoring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0" y="4892040"/>
            <a:ext cx="12191695" cy="1965960"/>
          </a:xfrm>
          <a:prstGeom prst="rect">
            <a:avLst/>
          </a:prstGeom>
          <a:solidFill>
            <a:srgbClr val="1A1714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50932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C8361E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LEAKLENS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594360" y="5422392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AF6F0"/>
                </a:solidFill>
                <a:latin typeface="Fraunces" pitchFamily="34" charset="0"/>
                <a:ea typeface="Fraunces" pitchFamily="34" charset="-122"/>
                <a:cs typeface="Fraunces" pitchFamily="34" charset="-120"/>
              </a:rPr>
              <a:t>Thank you.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621792" y="626364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C9C2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inbox already knows which subscriptions you've stopped using.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8899855" y="56235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00" b="1" dirty="0" err="1">
                <a:solidFill>
                  <a:srgbClr val="FAF6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  <a:hlinkClick r:id="rId3"/>
              </a:rPr>
              <a:t>leaklens-henna.vercel.app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1368735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50" dirty="0">
                <a:solidFill>
                  <a:srgbClr val="9C968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690</Words>
  <Application>Microsoft Office PowerPoint</Application>
  <PresentationFormat>Widescreen</PresentationFormat>
  <Paragraphs>163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Courier New</vt:lpstr>
      <vt:lpstr>Fraunces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Ayush Goenka</cp:lastModifiedBy>
  <cp:revision>3</cp:revision>
  <dcterms:created xsi:type="dcterms:W3CDTF">2026-07-25T17:57:05Z</dcterms:created>
  <dcterms:modified xsi:type="dcterms:W3CDTF">2026-07-25T18:17:01Z</dcterms:modified>
</cp:coreProperties>
</file>